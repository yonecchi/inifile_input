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VM + Webサーバ環境</a:t>
            </a:r>
          </a:p>
          <a:p>
            <a:r>
              <a:t>セキュリティガイド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Azure上のWebサーバ運用時に注意すべきセキュリティ対策・構成例・用語解説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推奨構成イメージ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Front Door</a:t>
            </a:r>
          </a:p>
          <a:p>
            <a:r>
              <a:t>+ WAF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8288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VM</a:t>
            </a:r>
          </a:p>
          <a:p>
            <a:r>
              <a:t>(Web Server)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Database</a:t>
            </a:r>
          </a:p>
          <a:p>
            <a:r>
              <a:t>(Private)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6576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Monitor</a:t>
            </a:r>
          </a:p>
          <a:p>
            <a:r>
              <a:t>Sentinel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19456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194560"/>
            <a:ext cx="731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32320" y="2194560"/>
            <a:ext cx="731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560320"/>
            <a:ext cx="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公開アクセスはWAF経由に限定し、DBはPrivate Network内に配置。ログはAzure Monitor/Sentinelで集中監視。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ネットワーク設計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必要最小限のポートのみ公開（80/443推奨）</a:t>
            </a:r>
          </a:p>
          <a:p>
            <a:pPr>
              <a:defRPr sz="1500"/>
            </a:pPr>
            <a:r>
              <a:t>SSH/RDPはIP制限またはBastion経由</a:t>
            </a:r>
          </a:p>
          <a:p>
            <a:pPr>
              <a:defRPr sz="1500"/>
            </a:pPr>
            <a:r>
              <a:t>NSGで通信制御</a:t>
            </a:r>
          </a:p>
          <a:p>
            <a:pPr>
              <a:defRPr sz="1500"/>
            </a:pPr>
            <a:r>
              <a:t>Private Subnet活用</a:t>
            </a:r>
          </a:p>
          <a:p>
            <a:pPr>
              <a:defRPr sz="1500"/>
            </a:pPr>
            <a:r>
              <a:t>Public IPは最小限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OS・ミドルウェア管理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OSやNginx/Apache/IISを最新化</a:t>
            </a:r>
          </a:p>
          <a:p>
            <a:pPr>
              <a:defRPr sz="1500"/>
            </a:pPr>
            <a:r>
              <a:t>不要サービス停止</a:t>
            </a:r>
          </a:p>
          <a:p>
            <a:pPr>
              <a:defRPr sz="1500"/>
            </a:pPr>
            <a:r>
              <a:t>CVE情報確認</a:t>
            </a:r>
          </a:p>
          <a:p>
            <a:pPr>
              <a:defRPr sz="1500"/>
            </a:pPr>
            <a:r>
              <a:t>自動更新戦略</a:t>
            </a:r>
          </a:p>
          <a:p>
            <a:pPr>
              <a:defRPr sz="1500"/>
            </a:pPr>
            <a:r>
              <a:t>ミドルウェア設定監査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認証・アクセス管理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公開鍵認証推奨</a:t>
            </a:r>
          </a:p>
          <a:p>
            <a:pPr>
              <a:defRPr sz="1500"/>
            </a:pPr>
            <a:r>
              <a:t>MFA有効化</a:t>
            </a:r>
          </a:p>
          <a:p>
            <a:pPr>
              <a:defRPr sz="1500"/>
            </a:pPr>
            <a:r>
              <a:t>Azure RBAC利用</a:t>
            </a:r>
          </a:p>
          <a:p>
            <a:pPr>
              <a:defRPr sz="1500"/>
            </a:pPr>
            <a:r>
              <a:t>最小権限原則</a:t>
            </a:r>
          </a:p>
          <a:p>
            <a:pPr>
              <a:defRPr sz="1500"/>
            </a:pPr>
            <a:r>
              <a:t>管理アカウント共有禁止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Webアプリケーション保護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HTTPS強制</a:t>
            </a:r>
          </a:p>
          <a:p>
            <a:pPr>
              <a:defRPr sz="1500"/>
            </a:pPr>
            <a:r>
              <a:t>WAF導入</a:t>
            </a:r>
          </a:p>
          <a:p>
            <a:pPr>
              <a:defRPr sz="1500"/>
            </a:pPr>
            <a:r>
              <a:t>XSS/SQL Injection対策</a:t>
            </a:r>
          </a:p>
          <a:p>
            <a:pPr>
              <a:defRPr sz="1500"/>
            </a:pPr>
            <a:r>
              <a:t>セキュリティヘッダ設定</a:t>
            </a:r>
          </a:p>
          <a:p>
            <a:pPr>
              <a:defRPr sz="1500"/>
            </a:pPr>
            <a:r>
              <a:t>Cookie Secure/HttpOnly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監視・ログ管理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アクセスログ保存</a:t>
            </a:r>
          </a:p>
          <a:p>
            <a:pPr>
              <a:defRPr sz="1500"/>
            </a:pPr>
            <a:r>
              <a:t>認証失敗監視</a:t>
            </a:r>
          </a:p>
          <a:p>
            <a:pPr>
              <a:defRPr sz="1500"/>
            </a:pPr>
            <a:r>
              <a:t>Azure Monitor利用</a:t>
            </a:r>
          </a:p>
          <a:p>
            <a:pPr>
              <a:defRPr sz="1500"/>
            </a:pPr>
            <a:r>
              <a:t>SentinelによるSIEM分析</a:t>
            </a:r>
          </a:p>
          <a:p>
            <a:pPr>
              <a:defRPr sz="1500"/>
            </a:pPr>
            <a:r>
              <a:t>アラート通知設定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バックアップと障害対策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Azure Backup利用</a:t>
            </a:r>
          </a:p>
          <a:p>
            <a:pPr>
              <a:defRPr sz="1500"/>
            </a:pPr>
            <a:r>
              <a:t>スナップショット取得</a:t>
            </a:r>
          </a:p>
          <a:p>
            <a:pPr>
              <a:defRPr sz="1500"/>
            </a:pPr>
            <a:r>
              <a:t>リージョン冗長</a:t>
            </a:r>
          </a:p>
          <a:p>
            <a:pPr>
              <a:defRPr sz="1500"/>
            </a:pPr>
            <a:r>
              <a:t>復旧テスト実施</a:t>
            </a:r>
          </a:p>
          <a:p>
            <a:pPr>
              <a:defRPr sz="1500"/>
            </a:pPr>
            <a:r>
              <a:t>IaCによる構成管理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運用上の注意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不要ユーザー削除</a:t>
            </a:r>
          </a:p>
          <a:p>
            <a:pPr>
              <a:defRPr sz="1500"/>
            </a:pPr>
            <a:r>
              <a:t>権限棚卸</a:t>
            </a:r>
          </a:p>
          <a:p>
            <a:pPr>
              <a:defRPr sz="1500"/>
            </a:pPr>
            <a:r>
              <a:t>変更履歴管理</a:t>
            </a:r>
          </a:p>
          <a:p>
            <a:pPr>
              <a:defRPr sz="1500"/>
            </a:pPr>
            <a:r>
              <a:t>定期脆弱性診断</a:t>
            </a:r>
          </a:p>
          <a:p>
            <a:pPr>
              <a:defRPr sz="1500"/>
            </a:pPr>
            <a:r>
              <a:t>インシデント対応手順作成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用語解説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用語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説明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Azureの仮想ファイアウォール機能。通信ルールを制御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Webアプリ向けファイアウォール。SQL Injection等を防御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Azureの権限管理機能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多要素認証。パスワード以外の認証を追加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ログを統合分析し脅威を検知する仕組み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Private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AzureサービスをPrivate Network経由接続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踏み台サーバ不要で安全にVM接続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公開されている脆弱性情報ID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公開範囲を最小限にする</a:t>
            </a:r>
          </a:p>
          <a:p>
            <a:pPr>
              <a:defRPr sz="1800"/>
            </a:pPr>
            <a:r>
              <a:t>WAF・NSG・MFAなど多層防御を行う</a:t>
            </a:r>
          </a:p>
          <a:p>
            <a:pPr>
              <a:defRPr sz="1800"/>
            </a:pPr>
            <a:r>
              <a:t>監視・ログ分析を継続する</a:t>
            </a:r>
          </a:p>
          <a:p>
            <a:pPr>
              <a:defRPr sz="1800"/>
            </a:pPr>
            <a:r>
              <a:t>バックアップと復旧手順を定期確認</a:t>
            </a:r>
          </a:p>
          <a:p>
            <a:pPr>
              <a:defRPr sz="1800"/>
            </a:pPr>
            <a:r>
              <a:t>『侵入される前提』で設計する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